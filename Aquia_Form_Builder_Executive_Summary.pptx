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Forms</c:v>
                </c:pt>
              </c:strCache>
            </c:strRef>
          </c:tx>
          <c:spPr>
            <a:solidFill>
              <a:srgbClr val="0071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2E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VBA</c:v>
                  </c:pt>
                  <c:pt idx="1">
                    <c:v>VHA</c:v>
                  </c:pt>
                  <c:pt idx="2">
                    <c:v>NCA</c:v>
                  </c:pt>
                  <c:pt idx="3">
                    <c:v>Facilities</c:v>
                  </c:pt>
                  <c:pt idx="4">
                    <c:v>Admin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197</c:v>
                </c:pt>
                <c:pt idx="1">
                  <c:v>255</c:v>
                </c:pt>
                <c:pt idx="2">
                  <c:v>17</c:v>
                </c:pt>
                <c:pt idx="3">
                  <c:v>35</c:v>
                </c:pt>
                <c:pt idx="4">
                  <c:v>31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12E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E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Aquia Form Builder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541 VA Forms with AI-Powered Automation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Technical Summary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71B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474720" cy="219456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71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1,800+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forms still exist only as flat PDFs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54864" cy="411480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Veterans must print, hand-fill, and mail paper forms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54864" cy="411480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validation — errors cause delays and resubmissions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54864" cy="411480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accessibility for screen readers or assistive tech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54864" cy="411480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971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staff manually re-key data from paper into systems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54864"/>
          </a:xfrm>
          <a:prstGeom prst="rect">
            <a:avLst/>
          </a:prstGeom>
          <a:solidFill>
            <a:srgbClr val="D6D7D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 Benefits Intake Online (BIO) team digitized 4 forms manually — a process that took months per form.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12E5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468880" cy="256032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2468880" cy="54864"/>
          </a:xfrm>
          <a:prstGeom prst="rect">
            <a:avLst/>
          </a:prstGeom>
          <a:solidFill>
            <a:srgbClr val="0071B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Auto-Digitize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field extraction with AI-powered schema generation across all VA organizations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097280"/>
            <a:ext cx="2468880" cy="256032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10712" y="1097280"/>
            <a:ext cx="2468880" cy="54864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BIO-Identical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93592" y="19202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Pixel-perfect match to VA.gov design system — same fonts, colors, progress bars, and interactions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1097280"/>
            <a:ext cx="2468880" cy="256032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1097280"/>
            <a:ext cx="2468880" cy="54864"/>
          </a:xfrm>
          <a:prstGeom prst="rect">
            <a:avLst/>
          </a:prstGeom>
          <a:solidFill>
            <a:srgbClr val="112E51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Enrichment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72784" y="19202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engine that transforms raw form fields into structured, labeled wizard steps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What took the BIO team months per form, we do in seconds for all 541.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12E5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E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06040" cy="45720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B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Digitized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VA organizations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0604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051560"/>
            <a:ext cx="2606040" cy="45720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B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52044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flat or empty forms remain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60604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051560"/>
            <a:ext cx="2606040" cy="45720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B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Duplicates Tagged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already on VA.gov identified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0604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26080"/>
            <a:ext cx="2606040" cy="45720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08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B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Check Categories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passed with 0 critical issues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926080"/>
            <a:ext cx="260604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337560" y="2926080"/>
            <a:ext cx="2606040" cy="45720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108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B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WCAG AA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52044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Compliant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0440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508 / WCAG 2.1 AA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926080"/>
            <a:ext cx="260604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2926080"/>
            <a:ext cx="2606040" cy="45720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108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B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10s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40080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Per-Form Digitization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months for manual BIO process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71B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by Organization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54864" cy="411480"/>
          </a:xfrm>
          <a:prstGeom prst="rect">
            <a:avLst/>
          </a:prstGeom>
          <a:solidFill>
            <a:srgbClr val="0071BC"/>
          </a:solidFill>
          <a:ln/>
        </p:spPr>
      </p:sp>
      <p:sp>
        <p:nvSpPr>
          <p:cNvPr id="6" name="Text 3"/>
          <p:cNvSpPr/>
          <p:nvPr/>
        </p:nvSpPr>
        <p:spPr>
          <a:xfrm>
            <a:off x="6492240" y="1005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E51"/>
                </a:solidFill>
              </a:rPr>
              <a:t>VBA  </a:t>
            </a:r>
            <a:pPr indent="0" marL="0">
              <a:buNone/>
            </a:pPr>
            <a:r>
              <a:rPr lang="en-US" sz="1200" b="1" dirty="0">
                <a:solidFill>
                  <a:srgbClr val="0071BC"/>
                </a:solidFill>
              </a:rPr>
              <a:t>197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92240" y="1188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Compensation, Education, Loans, Insurance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4864" cy="411480"/>
          </a:xfrm>
          <a:prstGeom prst="rect">
            <a:avLst/>
          </a:prstGeom>
          <a:solidFill>
            <a:srgbClr val="0071BC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E51"/>
                </a:solidFill>
              </a:rPr>
              <a:t>VHA  </a:t>
            </a:r>
            <a:pPr indent="0" marL="0">
              <a:buNone/>
            </a:pPr>
            <a:r>
              <a:rPr lang="en-US" sz="1200" b="1" dirty="0">
                <a:solidFill>
                  <a:srgbClr val="0071BC"/>
                </a:solidFill>
              </a:rPr>
              <a:t>255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9224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Administration forms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17920" y="2011680"/>
            <a:ext cx="54864" cy="411480"/>
          </a:xfrm>
          <a:prstGeom prst="rect">
            <a:avLst/>
          </a:prstGeom>
          <a:solidFill>
            <a:srgbClr val="0071BC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0116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E51"/>
                </a:solidFill>
              </a:rPr>
              <a:t>NCA  </a:t>
            </a:r>
            <a:pPr indent="0" marL="0">
              <a:buNone/>
            </a:pPr>
            <a:r>
              <a:rPr lang="en-US" sz="1200" b="1" dirty="0">
                <a:solidFill>
                  <a:srgbClr val="0071BC"/>
                </a:solidFill>
              </a:rPr>
              <a:t>17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9224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Cemetery Administration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2514600"/>
            <a:ext cx="54864" cy="411480"/>
          </a:xfrm>
          <a:prstGeom prst="rect">
            <a:avLst/>
          </a:prstGeom>
          <a:solidFill>
            <a:srgbClr val="0071BC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2514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E51"/>
                </a:solidFill>
              </a:rPr>
              <a:t>Facilities  </a:t>
            </a:r>
            <a:pPr indent="0" marL="0">
              <a:buNone/>
            </a:pPr>
            <a:r>
              <a:rPr lang="en-US" sz="1200" b="1" dirty="0">
                <a:solidFill>
                  <a:srgbClr val="0071BC"/>
                </a:solidFill>
              </a:rPr>
              <a:t>35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9224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management forms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3017520"/>
            <a:ext cx="54864" cy="411480"/>
          </a:xfrm>
          <a:prstGeom prst="rect">
            <a:avLst/>
          </a:prstGeom>
          <a:solidFill>
            <a:srgbClr val="0071BC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3017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E51"/>
                </a:solidFill>
              </a:rPr>
              <a:t>Admin  </a:t>
            </a:r>
            <a:pPr indent="0" marL="0">
              <a:buNone/>
            </a:pPr>
            <a:r>
              <a:rPr lang="en-US" sz="1200" b="1" dirty="0">
                <a:solidFill>
                  <a:srgbClr val="0071BC"/>
                </a:solidFill>
              </a:rPr>
              <a:t>31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92240" y="3200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standard forms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217920" y="3520440"/>
            <a:ext cx="54864" cy="411480"/>
          </a:xfrm>
          <a:prstGeom prst="rect">
            <a:avLst/>
          </a:prstGeom>
          <a:solidFill>
            <a:srgbClr val="0071BC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3520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E51"/>
                </a:solidFill>
              </a:rPr>
              <a:t>Other  </a:t>
            </a:r>
            <a:pPr indent="0" marL="0">
              <a:buNone/>
            </a:pPr>
            <a:r>
              <a:rPr lang="en-US" sz="1200" b="1" dirty="0">
                <a:solidFill>
                  <a:srgbClr val="0071BC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9224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Cross-agency forms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12E5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65960" cy="219456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965960" cy="54864"/>
          </a:xfrm>
          <a:prstGeom prst="rect">
            <a:avLst/>
          </a:prstGeom>
          <a:solidFill>
            <a:srgbClr val="0071B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365760" cy="365760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pdf.js extraction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AcroForm/XFA parsing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16B"/>
                </a:solidFill>
              </a:rPr>
              <a:t>❯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1965960" cy="219456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097280"/>
            <a:ext cx="1965960" cy="54864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280160"/>
            <a:ext cx="365760" cy="365760"/>
          </a:xfrm>
          <a:prstGeom prst="ellipse">
            <a:avLst/>
          </a:prstGeom>
          <a:solidFill>
            <a:srgbClr val="2E85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labeling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type detection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grouping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16B"/>
                </a:solidFill>
              </a:rPr>
              <a:t>❯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65960" cy="219456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1965960" cy="54864"/>
          </a:xfrm>
          <a:prstGeom prst="rect">
            <a:avLst/>
          </a:prstGeom>
          <a:solidFill>
            <a:srgbClr val="112E51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280160"/>
            <a:ext cx="365760" cy="365760"/>
          </a:xfrm>
          <a:prstGeom prst="ellipse">
            <a:avLst/>
          </a:prstGeom>
          <a:solidFill>
            <a:srgbClr val="112E5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wizard pattern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VADS design tokens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 compliance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18288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16B"/>
                </a:solidFill>
              </a:rPr>
              <a:t>❯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9440" y="1097280"/>
            <a:ext cx="1965960" cy="219456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09728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2801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Auto-commit schemas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hosting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566160"/>
            <a:ext cx="7680960" cy="54864"/>
          </a:xfrm>
          <a:prstGeom prst="rect">
            <a:avLst/>
          </a:prstGeom>
          <a:solidFill>
            <a:srgbClr val="D6D7D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E51"/>
                </a:solidFill>
              </a:rPr>
              <a:t>Stack:  </a:t>
            </a:r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</a:rPr>
              <a:t>pdf.js  |  pdf-lib  |  Gemini 2.5 Flash  |  VADS Design System  |  GitHub Actions  |  GitHub Pages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069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E51"/>
                </a:solidFill>
              </a:rPr>
              <a:t>AI Providers:  </a:t>
            </a:r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</a:rPr>
              <a:t>Google Gemini (active)  |  Anthropic Claude  |  OpenAI  |  Ollama (local)  |  Custom endpoint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12E5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Assurance &amp; Compliance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 QA Validator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 Compliance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&amp; Special Characters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&amp; Accessibility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Flow Logic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Compliance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Data Quality (541 forms)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Cross-file Consistency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508 / WCAG 2.1 AA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 compatible (ARIA roles, labels, live regions)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 navigation with visible focus indicators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103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heading hierarchy and document structure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4231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 labels with required indicators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743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linked via aria-describedby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063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form fallback with role=alert announcement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383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3px focus outlines per USWDS specification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703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checkbox with aria-required and aria-invalid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520" y="4069080"/>
            <a:ext cx="7680960" cy="50292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critical issues  |  0 warnings  |  Humanized tester verdict: PASS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12E5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86868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216152"/>
            <a:ext cx="502920" cy="502920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Library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541 forms across 6 VA orgs with search, filtering, and status badges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1143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7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forms.html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93392"/>
            <a:ext cx="7680960" cy="86868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157984"/>
            <a:ext cx="502920" cy="502920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 Wizard 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450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VA Form 20-0995 — intro page, segmented progress, multi-step form, review page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084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7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forms.html → 20-0995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935224"/>
            <a:ext cx="7680960" cy="86868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3099816"/>
            <a:ext cx="502920" cy="502920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30266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Digitizer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33924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PDF, watch field extraction, and trigger Gemini AI enrichment in real 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0266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7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877056"/>
            <a:ext cx="7680960" cy="86868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041648"/>
            <a:ext cx="502920" cy="502920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91640" y="39684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Report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43342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across va.gov and vba.va.gov — field counts, page stats, extraction coverage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9684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7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report.html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12E5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82296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73152" cy="82296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143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publish pipeline — upload PDF, auto-generate schema, auto-deploy to GitHub Pages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82296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965960"/>
            <a:ext cx="73152" cy="822960"/>
          </a:xfrm>
          <a:prstGeom prst="rect">
            <a:avLst/>
          </a:prstGeom>
          <a:solidFill>
            <a:srgbClr val="0071B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377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field labeling via Claude API — transform raw field IDs into human-readable labels with validation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7680960" cy="82296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80360"/>
            <a:ext cx="73152" cy="822960"/>
          </a:xfrm>
          <a:prstGeom prst="rect">
            <a:avLst/>
          </a:prstGeom>
          <a:solidFill>
            <a:srgbClr val="112E5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E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291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 — connect digitized forms to VA systems for real submission processing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7680960" cy="82296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794760"/>
            <a:ext cx="73152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886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2062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VA — adapt the platform for other federal agencies with similar form digitization needs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12E5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E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Aquia Form Builder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 forms. Pixel-perfect. Accessible. AI-powered.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834640"/>
            <a:ext cx="1828800" cy="36576"/>
          </a:xfrm>
          <a:prstGeom prst="rect">
            <a:avLst/>
          </a:prstGeom>
          <a:solidFill>
            <a:srgbClr val="02BFE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kalidtaraclaw.github.io/aquiaformbuilder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github.com/kalidtaraclaw/aquiaformbuilder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71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Aquia Form Builder — Executive &amp; Technical Summary</dc:title>
  <dc:subject>PptxGenJS Presentation</dc:subject>
  <dc:creator>Kalid Taraclaw</dc:creator>
  <cp:lastModifiedBy>Kalid Taraclaw</cp:lastModifiedBy>
  <cp:revision>1</cp:revision>
  <dcterms:created xsi:type="dcterms:W3CDTF">2026-03-29T18:07:35Z</dcterms:created>
  <dcterms:modified xsi:type="dcterms:W3CDTF">2026-03-29T18:07:35Z</dcterms:modified>
</cp:coreProperties>
</file>